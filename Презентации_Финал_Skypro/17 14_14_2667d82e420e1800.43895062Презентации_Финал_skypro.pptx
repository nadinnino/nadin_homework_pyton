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5"/>
  </p:notesMasterIdLst>
  <p:sldIdLst>
    <p:sldId id="257" r:id="rId2"/>
    <p:sldId id="259" r:id="rId3"/>
    <p:sldId id="272" r:id="rId4"/>
    <p:sldId id="273" r:id="rId5"/>
    <p:sldId id="274" r:id="rId6"/>
    <p:sldId id="275" r:id="rId7"/>
    <p:sldId id="281" r:id="rId8"/>
    <p:sldId id="280" r:id="rId9"/>
    <p:sldId id="282" r:id="rId10"/>
    <p:sldId id="276" r:id="rId11"/>
    <p:sldId id="277" r:id="rId12"/>
    <p:sldId id="278" r:id="rId13"/>
    <p:sldId id="279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1" roundtripDataSignature="AMtx7miZxt4NEsWbfbpdHD8klXoUNgWwJ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21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510429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406513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699556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220398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923434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247282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35997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204764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291291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353391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43955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9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" name="Google Shape;24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2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2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2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 txBox="1">
            <a:spLocks noGrp="1"/>
          </p:cNvSpPr>
          <p:nvPr>
            <p:ph type="ctrTitle"/>
          </p:nvPr>
        </p:nvSpPr>
        <p:spPr>
          <a:xfrm>
            <a:off x="357771" y="1937027"/>
            <a:ext cx="6472797" cy="38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Arial"/>
              <a:buNone/>
            </a:pPr>
            <a:r>
              <a:rPr lang="ru-RU" sz="5600" dirty="0">
                <a:solidFill>
                  <a:schemeClr val="lt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Финальный проект</a:t>
            </a:r>
            <a:endParaRPr sz="5600" dirty="0">
              <a:solidFill>
                <a:schemeClr val="lt1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Arial"/>
              <a:buNone/>
            </a:pPr>
            <a:r>
              <a:rPr lang="ru-RU" sz="5600" dirty="0">
                <a:solidFill>
                  <a:schemeClr val="lt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“</a:t>
            </a:r>
            <a:r>
              <a:rPr lang="ru-RU" sz="5600" dirty="0" err="1">
                <a:solidFill>
                  <a:schemeClr val="lt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Кинопоиск</a:t>
            </a:r>
            <a:r>
              <a:rPr lang="ru-RU" sz="5600" dirty="0">
                <a:solidFill>
                  <a:schemeClr val="lt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”</a:t>
            </a:r>
            <a:endParaRPr sz="5600" dirty="0">
              <a:solidFill>
                <a:schemeClr val="lt1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94" name="Google Shape;94;p2"/>
          <p:cNvSpPr txBox="1">
            <a:spLocks noGrp="1"/>
          </p:cNvSpPr>
          <p:nvPr>
            <p:ph type="subTitle" idx="1"/>
          </p:nvPr>
        </p:nvSpPr>
        <p:spPr>
          <a:xfrm>
            <a:off x="289036" y="5295056"/>
            <a:ext cx="3697038" cy="472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62500" lnSpcReduction="2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ru-RU" sz="3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Канунникова Ю.В.</a:t>
            </a:r>
            <a:endParaRPr lang="en-US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Профессия: Инженер по тестированию</a:t>
            </a:r>
            <a:endParaRPr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1A58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/>
          <p:cNvSpPr txBox="1"/>
          <p:nvPr/>
        </p:nvSpPr>
        <p:spPr>
          <a:xfrm>
            <a:off x="549170" y="2177797"/>
            <a:ext cx="6602111" cy="3663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lnSpc>
                <a:spcPct val="90000"/>
              </a:lnSpc>
              <a:buClr>
                <a:schemeClr val="lt1"/>
              </a:buClr>
              <a:buSzPts val="3200"/>
            </a:pPr>
            <a:r>
              <a:rPr lang="ru-RU" sz="2400" dirty="0" err="1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Кинопоиск</a:t>
            </a:r>
            <a:r>
              <a:rPr lang="ru-RU" sz="2400" dirty="0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ведущий российский онлайн-сервис для поиска и просмотра фильмов, сериалов, мультфильмов и телевидения. Предлагает обширную базу контента, включая эксклюзивные проекты, рекомендации по вкусам, рейтинги, рецензии и удобный просмотр без рекламы. Интеграция с подпиской </a:t>
            </a:r>
            <a:r>
              <a:rPr lang="ru-RU" sz="2400" dirty="0" err="1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Яндекс.Плюс</a:t>
            </a:r>
            <a:r>
              <a:rPr lang="ru-RU" sz="2400" dirty="0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открывает доступ к бонусам, создавая универсальный центр развлечений.</a:t>
            </a:r>
            <a:endParaRPr sz="24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5E5542D-7D6A-44CF-AB66-B0F961E8D7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2853" y="0"/>
            <a:ext cx="4729147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4061FFE-9619-4FA3-8AE8-653C35EAF619}"/>
              </a:ext>
            </a:extLst>
          </p:cNvPr>
          <p:cNvSpPr txBox="1"/>
          <p:nvPr/>
        </p:nvSpPr>
        <p:spPr>
          <a:xfrm>
            <a:off x="566854" y="555282"/>
            <a:ext cx="65667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5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Описание проекта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1A58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43;p10">
            <a:extLst>
              <a:ext uri="{FF2B5EF4-FFF2-40B4-BE49-F238E27FC236}">
                <a16:creationId xmlns:a16="http://schemas.microsoft.com/office/drawing/2014/main" id="{FB384601-979C-4965-96E1-7634AFC83E63}"/>
              </a:ext>
            </a:extLst>
          </p:cNvPr>
          <p:cNvSpPr/>
          <p:nvPr/>
        </p:nvSpPr>
        <p:spPr>
          <a:xfrm>
            <a:off x="4086350" y="197591"/>
            <a:ext cx="4019299" cy="1832377"/>
          </a:xfrm>
          <a:prstGeom prst="roundRect">
            <a:avLst>
              <a:gd name="adj" fmla="val 5944"/>
            </a:avLst>
          </a:prstGeom>
          <a:solidFill>
            <a:srgbClr val="F9EB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>
              <a:buSzPts val="1400"/>
            </a:pP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Ключевые функции подлежащие проверке: </a:t>
            </a:r>
          </a:p>
          <a:p>
            <a:pPr lvl="0" algn="ctr">
              <a:buSzPts val="1400"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1.Поиск фильма по названию</a:t>
            </a:r>
          </a:p>
          <a:p>
            <a:pPr lvl="0" algn="ctr">
              <a:buSzPts val="1400"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2.Поиск телеканала новостей</a:t>
            </a:r>
          </a:p>
          <a:p>
            <a:pPr lvl="0" algn="ctr">
              <a:buSzPts val="1400"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3.Покупка билета в кинотеатр</a:t>
            </a:r>
            <a:endParaRPr sz="16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F788418-D786-4BD4-9ED1-941132F6379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470" r="1850" b="47282"/>
          <a:stretch/>
        </p:blipFill>
        <p:spPr>
          <a:xfrm>
            <a:off x="247397" y="3261767"/>
            <a:ext cx="3008376" cy="2707349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6CBF8D5-5B00-40B8-8262-19D6FCF696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1023" y="3681527"/>
            <a:ext cx="4949952" cy="1867833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1D8A6FBD-C26B-4180-B892-5F656C21BB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36225" y="3261768"/>
            <a:ext cx="2802344" cy="2707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860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1A58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3;p10">
            <a:extLst>
              <a:ext uri="{FF2B5EF4-FFF2-40B4-BE49-F238E27FC236}">
                <a16:creationId xmlns:a16="http://schemas.microsoft.com/office/drawing/2014/main" id="{5570306B-63E5-43B1-BD96-E8B580B57A9E}"/>
              </a:ext>
            </a:extLst>
          </p:cNvPr>
          <p:cNvSpPr/>
          <p:nvPr/>
        </p:nvSpPr>
        <p:spPr>
          <a:xfrm>
            <a:off x="4327140" y="353039"/>
            <a:ext cx="3537715" cy="1554480"/>
          </a:xfrm>
          <a:prstGeom prst="roundRect">
            <a:avLst>
              <a:gd name="adj" fmla="val 5944"/>
            </a:avLst>
          </a:prstGeom>
          <a:solidFill>
            <a:srgbClr val="F9EB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>
              <a:buSzPts val="1400"/>
            </a:pP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Виды тестирования:</a:t>
            </a:r>
          </a:p>
          <a:p>
            <a:pPr lvl="0" algn="ctr">
              <a:buSzPts val="1400"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Smoke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-тестирование </a:t>
            </a:r>
          </a:p>
          <a:p>
            <a:pPr lvl="0" algn="ctr">
              <a:buSzPts val="1400"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Функциональное тестирование Нефункциональное тестирование </a:t>
            </a:r>
          </a:p>
          <a:p>
            <a:pPr lvl="0" algn="ctr">
              <a:buSzPts val="1400"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тестирование</a:t>
            </a:r>
            <a:endParaRPr sz="16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Google Shape;143;p10">
            <a:extLst>
              <a:ext uri="{FF2B5EF4-FFF2-40B4-BE49-F238E27FC236}">
                <a16:creationId xmlns:a16="http://schemas.microsoft.com/office/drawing/2014/main" id="{0BF10CB0-DCCE-4EC3-9330-EB437370B5B6}"/>
              </a:ext>
            </a:extLst>
          </p:cNvPr>
          <p:cNvSpPr/>
          <p:nvPr/>
        </p:nvSpPr>
        <p:spPr>
          <a:xfrm>
            <a:off x="789426" y="2441712"/>
            <a:ext cx="3537715" cy="1554480"/>
          </a:xfrm>
          <a:prstGeom prst="roundRect">
            <a:avLst>
              <a:gd name="adj" fmla="val 5944"/>
            </a:avLst>
          </a:prstGeom>
          <a:solidFill>
            <a:srgbClr val="F9EB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>
              <a:buSzPts val="1400"/>
            </a:pPr>
            <a:r>
              <a:rPr lang="ru-RU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Smoke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-тестирование –</a:t>
            </a:r>
          </a:p>
          <a:p>
            <a:pPr lvl="0" algn="ctr">
              <a:buSzPts val="1400"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Проверка, что основные функции системы работают и она вообще запускается, без глубокого погружения в детали. </a:t>
            </a:r>
            <a:endParaRPr sz="16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7" name="Google Shape;143;p10">
            <a:extLst>
              <a:ext uri="{FF2B5EF4-FFF2-40B4-BE49-F238E27FC236}">
                <a16:creationId xmlns:a16="http://schemas.microsoft.com/office/drawing/2014/main" id="{83BCDDCD-EF4C-499C-A7F8-9C5C776C552B}"/>
              </a:ext>
            </a:extLst>
          </p:cNvPr>
          <p:cNvSpPr/>
          <p:nvPr/>
        </p:nvSpPr>
        <p:spPr>
          <a:xfrm>
            <a:off x="7864857" y="2441712"/>
            <a:ext cx="3537715" cy="1554480"/>
          </a:xfrm>
          <a:prstGeom prst="roundRect">
            <a:avLst>
              <a:gd name="adj" fmla="val 5944"/>
            </a:avLst>
          </a:prstGeom>
          <a:solidFill>
            <a:srgbClr val="F9EB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>
              <a:buSzPts val="1400"/>
            </a:pP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Функциональное тестирование – </a:t>
            </a:r>
          </a:p>
          <a:p>
            <a:pPr lvl="0" algn="ctr">
              <a:buSzPts val="1400"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Проверка, что система выполняет те задачи, для которых она предназначена, например, кнопки работают и данные сохраняются. </a:t>
            </a:r>
            <a:endParaRPr sz="16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9" name="Google Shape;143;p10">
            <a:extLst>
              <a:ext uri="{FF2B5EF4-FFF2-40B4-BE49-F238E27FC236}">
                <a16:creationId xmlns:a16="http://schemas.microsoft.com/office/drawing/2014/main" id="{492AB39D-76EF-4943-92F0-0BDB1604232B}"/>
              </a:ext>
            </a:extLst>
          </p:cNvPr>
          <p:cNvSpPr/>
          <p:nvPr/>
        </p:nvSpPr>
        <p:spPr>
          <a:xfrm>
            <a:off x="789425" y="4530385"/>
            <a:ext cx="3537715" cy="1554480"/>
          </a:xfrm>
          <a:prstGeom prst="roundRect">
            <a:avLst>
              <a:gd name="adj" fmla="val 5944"/>
            </a:avLst>
          </a:prstGeom>
          <a:solidFill>
            <a:srgbClr val="F9EB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>
              <a:buSzPts val="1400"/>
            </a:pP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Нефункциональное тестирование –</a:t>
            </a:r>
          </a:p>
          <a:p>
            <a:pPr lvl="0" algn="ctr">
              <a:buSzPts val="1400"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Проверка, как система работает, включая скорость, надежность и удобство использования. </a:t>
            </a:r>
            <a:endParaRPr sz="16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0" name="Google Shape;143;p10">
            <a:extLst>
              <a:ext uri="{FF2B5EF4-FFF2-40B4-BE49-F238E27FC236}">
                <a16:creationId xmlns:a16="http://schemas.microsoft.com/office/drawing/2014/main" id="{E3EA0DF9-7223-49E6-A607-D5076B43459C}"/>
              </a:ext>
            </a:extLst>
          </p:cNvPr>
          <p:cNvSpPr/>
          <p:nvPr/>
        </p:nvSpPr>
        <p:spPr>
          <a:xfrm>
            <a:off x="7864857" y="4530385"/>
            <a:ext cx="3537715" cy="1554480"/>
          </a:xfrm>
          <a:prstGeom prst="roundRect">
            <a:avLst>
              <a:gd name="adj" fmla="val 5944"/>
            </a:avLst>
          </a:prstGeom>
          <a:solidFill>
            <a:srgbClr val="F9EB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>
              <a:buSzPts val="1400"/>
            </a:pP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тестирование – </a:t>
            </a:r>
          </a:p>
          <a:p>
            <a:pPr lvl="0" algn="ctr">
              <a:buSzPts val="1400"/>
            </a:pP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Проверка, как разные части программы (или программы разных разработчиков) обмениваются данными друг с другом.</a:t>
            </a:r>
            <a:endParaRPr sz="16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946D41F7-0512-40D8-885C-04BB1DE8AC93}"/>
              </a:ext>
            </a:extLst>
          </p:cNvPr>
          <p:cNvCxnSpPr>
            <a:stCxn id="2" idx="2"/>
            <a:endCxn id="3" idx="3"/>
          </p:cNvCxnSpPr>
          <p:nvPr/>
        </p:nvCxnSpPr>
        <p:spPr>
          <a:xfrm flipH="1">
            <a:off x="4327141" y="1907519"/>
            <a:ext cx="1768857" cy="13114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5831C556-46FC-400F-8EBA-FC7FFF99A309}"/>
              </a:ext>
            </a:extLst>
          </p:cNvPr>
          <p:cNvCxnSpPr>
            <a:stCxn id="2" idx="2"/>
            <a:endCxn id="7" idx="1"/>
          </p:cNvCxnSpPr>
          <p:nvPr/>
        </p:nvCxnSpPr>
        <p:spPr>
          <a:xfrm>
            <a:off x="6095998" y="1907519"/>
            <a:ext cx="1768859" cy="13114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3E1AB097-2BE7-4913-8B92-E64B9B2E51DE}"/>
              </a:ext>
            </a:extLst>
          </p:cNvPr>
          <p:cNvCxnSpPr>
            <a:stCxn id="2" idx="2"/>
            <a:endCxn id="9" idx="3"/>
          </p:cNvCxnSpPr>
          <p:nvPr/>
        </p:nvCxnSpPr>
        <p:spPr>
          <a:xfrm flipH="1">
            <a:off x="4327140" y="1907519"/>
            <a:ext cx="1768858" cy="34001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05252E50-B2E9-4B5D-BF4C-49EAA097F59F}"/>
              </a:ext>
            </a:extLst>
          </p:cNvPr>
          <p:cNvCxnSpPr>
            <a:stCxn id="2" idx="2"/>
            <a:endCxn id="10" idx="1"/>
          </p:cNvCxnSpPr>
          <p:nvPr/>
        </p:nvCxnSpPr>
        <p:spPr>
          <a:xfrm>
            <a:off x="6095998" y="1907519"/>
            <a:ext cx="1768859" cy="34001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69985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1A58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2F7A414-453A-4C14-8266-6FFCEB2179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1801" y="5266751"/>
            <a:ext cx="1472184" cy="1472184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95E84BB-23E3-44BA-B4AF-916A094F29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15" y="119065"/>
            <a:ext cx="7764653" cy="2102927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CFC86C83-2FC2-4A86-9071-5BE77FEC1D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0844" y="2312320"/>
            <a:ext cx="6995708" cy="1967543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5B9E661E-A22A-4FA8-917F-11D9E4DC27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015" y="4370191"/>
            <a:ext cx="5276089" cy="2368744"/>
          </a:xfrm>
          <a:prstGeom prst="rect">
            <a:avLst/>
          </a:prstGeom>
        </p:spPr>
      </p:pic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B6DBAB22-F5AF-4DBF-AD8D-9AA9D6564261}"/>
              </a:ext>
            </a:extLst>
          </p:cNvPr>
          <p:cNvSpPr/>
          <p:nvPr/>
        </p:nvSpPr>
        <p:spPr>
          <a:xfrm>
            <a:off x="10803550" y="4984701"/>
            <a:ext cx="104868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Тест план</a:t>
            </a:r>
          </a:p>
        </p:txBody>
      </p:sp>
    </p:spTree>
    <p:extLst>
      <p:ext uri="{BB962C8B-B14F-4D97-AF65-F5344CB8AC3E}">
        <p14:creationId xmlns:p14="http://schemas.microsoft.com/office/powerpoint/2010/main" val="13530833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1A58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2F7A414-453A-4C14-8266-6FFCEB2179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1801" y="5266751"/>
            <a:ext cx="1472184" cy="1472184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FE20342-FCF6-4529-AA28-EB480714606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2325" r="32875"/>
          <a:stretch/>
        </p:blipFill>
        <p:spPr>
          <a:xfrm>
            <a:off x="493858" y="91439"/>
            <a:ext cx="3266216" cy="4893262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577573C-D9FA-4AA0-AA47-75C9851D34B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1125" r="32575"/>
          <a:stretch/>
        </p:blipFill>
        <p:spPr>
          <a:xfrm>
            <a:off x="4119808" y="1711286"/>
            <a:ext cx="3434449" cy="4893262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2064A10-3B07-4F1B-AC1C-3055E11CC9BA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22575" r="23800"/>
          <a:stretch/>
        </p:blipFill>
        <p:spPr>
          <a:xfrm>
            <a:off x="7913992" y="91439"/>
            <a:ext cx="4149993" cy="4002470"/>
          </a:xfrm>
          <a:prstGeom prst="rect">
            <a:avLst/>
          </a:prstGeom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2A0DDC5D-7316-48F0-A5E5-AFDA2E09DDE5}"/>
              </a:ext>
            </a:extLst>
          </p:cNvPr>
          <p:cNvSpPr/>
          <p:nvPr/>
        </p:nvSpPr>
        <p:spPr>
          <a:xfrm>
            <a:off x="10803550" y="4984701"/>
            <a:ext cx="104868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Тест план</a:t>
            </a:r>
          </a:p>
        </p:txBody>
      </p:sp>
    </p:spTree>
    <p:extLst>
      <p:ext uri="{BB962C8B-B14F-4D97-AF65-F5344CB8AC3E}">
        <p14:creationId xmlns:p14="http://schemas.microsoft.com/office/powerpoint/2010/main" val="6326278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1A58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2F7A414-453A-4C14-8266-6FFCEB2179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1801" y="5266751"/>
            <a:ext cx="1472184" cy="1472184"/>
          </a:xfrm>
          <a:prstGeom prst="rect">
            <a:avLst/>
          </a:prstGeom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2A0DDC5D-7316-48F0-A5E5-AFDA2E09DDE5}"/>
              </a:ext>
            </a:extLst>
          </p:cNvPr>
          <p:cNvSpPr/>
          <p:nvPr/>
        </p:nvSpPr>
        <p:spPr>
          <a:xfrm>
            <a:off x="10803550" y="4984701"/>
            <a:ext cx="104868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Тест план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257F5A5-335F-4BDF-BAC6-382866F4CB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6170" y="-1"/>
            <a:ext cx="6195831" cy="3359302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B3E1B0F-E3E2-4AF1-BEDB-8E7AB6EF7F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359301"/>
            <a:ext cx="6440557" cy="3498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3791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1A58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2F7A414-453A-4C14-8266-6FFCEB2179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32" y="5385816"/>
            <a:ext cx="1472184" cy="1472184"/>
          </a:xfrm>
          <a:prstGeom prst="rect">
            <a:avLst/>
          </a:prstGeom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2A0DDC5D-7316-48F0-A5E5-AFDA2E09DDE5}"/>
              </a:ext>
            </a:extLst>
          </p:cNvPr>
          <p:cNvSpPr/>
          <p:nvPr/>
        </p:nvSpPr>
        <p:spPr>
          <a:xfrm>
            <a:off x="321081" y="5077262"/>
            <a:ext cx="104868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Тест план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CFBA1BB-4543-4232-8987-E34CC86CA5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6096000" cy="3336925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6D93F43-20D6-470C-921C-D28011A043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3774" y="3347184"/>
            <a:ext cx="6428226" cy="34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8317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1A58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2F7A414-453A-4C14-8266-6FFCEB2179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9462" y="5385816"/>
            <a:ext cx="1472184" cy="1472184"/>
          </a:xfrm>
          <a:prstGeom prst="rect">
            <a:avLst/>
          </a:prstGeom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2A0DDC5D-7316-48F0-A5E5-AFDA2E09DDE5}"/>
              </a:ext>
            </a:extLst>
          </p:cNvPr>
          <p:cNvSpPr/>
          <p:nvPr/>
        </p:nvSpPr>
        <p:spPr>
          <a:xfrm>
            <a:off x="10881211" y="5047262"/>
            <a:ext cx="104868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Тест план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163EF70-1D4E-4AFF-99FA-4F4F1B82B8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2537" y="277663"/>
            <a:ext cx="9146925" cy="4968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585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1A58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59686241-5A30-4309-8685-7F7783620CD8}"/>
              </a:ext>
            </a:extLst>
          </p:cNvPr>
          <p:cNvSpPr/>
          <p:nvPr/>
        </p:nvSpPr>
        <p:spPr>
          <a:xfrm>
            <a:off x="1415872" y="146133"/>
            <a:ext cx="9360255" cy="4608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400" b="1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Выводы по результатам тестирования приложения "</a:t>
            </a:r>
            <a:r>
              <a:rPr lang="ru-RU" sz="2400" b="1" dirty="0" err="1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Кинопоиск</a:t>
            </a:r>
            <a:r>
              <a:rPr lang="ru-RU" sz="2400" b="1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endParaRPr lang="ru-RU" sz="20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Google Shape;143;p10">
            <a:extLst>
              <a:ext uri="{FF2B5EF4-FFF2-40B4-BE49-F238E27FC236}">
                <a16:creationId xmlns:a16="http://schemas.microsoft.com/office/drawing/2014/main" id="{EB300018-AAA2-43E1-925A-F7C4CA48A77E}"/>
              </a:ext>
            </a:extLst>
          </p:cNvPr>
          <p:cNvSpPr/>
          <p:nvPr/>
        </p:nvSpPr>
        <p:spPr>
          <a:xfrm>
            <a:off x="3165852" y="1097280"/>
            <a:ext cx="3537715" cy="1554480"/>
          </a:xfrm>
          <a:prstGeom prst="roundRect">
            <a:avLst>
              <a:gd name="adj" fmla="val 5944"/>
            </a:avLst>
          </a:prstGeom>
          <a:solidFill>
            <a:srgbClr val="F9EB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Функциональность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Все основные функции приложения работают корректно.</a:t>
            </a:r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Критические сценарии использования протестированы и не выявили ошибок.</a:t>
            </a:r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Google Shape;143;p10">
            <a:extLst>
              <a:ext uri="{FF2B5EF4-FFF2-40B4-BE49-F238E27FC236}">
                <a16:creationId xmlns:a16="http://schemas.microsoft.com/office/drawing/2014/main" id="{018838C3-572F-4350-B77E-A32B88BED892}"/>
              </a:ext>
            </a:extLst>
          </p:cNvPr>
          <p:cNvSpPr/>
          <p:nvPr/>
        </p:nvSpPr>
        <p:spPr>
          <a:xfrm>
            <a:off x="768091" y="4206240"/>
            <a:ext cx="5935476" cy="1554480"/>
          </a:xfrm>
          <a:prstGeom prst="roundRect">
            <a:avLst>
              <a:gd name="adj" fmla="val 5944"/>
            </a:avLst>
          </a:prstGeom>
          <a:solidFill>
            <a:srgbClr val="F9EB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ru-RU" b="1"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Пользовательский интерфейс (UI/UX)</a:t>
            </a:r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 приложения обеспечивает удобство навигации.</a:t>
            </a:r>
            <a:endParaRPr lang="ru-RU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Все элементы интерфейса отображаются корректно на различных устройствах (смартфоны, планшеты, десктопы).</a:t>
            </a:r>
            <a:endParaRPr lang="ru-RU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Темная тема и другие настройки отображения работают без ошибок.</a:t>
            </a:r>
            <a:endParaRPr lang="ru-RU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Google Shape;143;p10">
            <a:extLst>
              <a:ext uri="{FF2B5EF4-FFF2-40B4-BE49-F238E27FC236}">
                <a16:creationId xmlns:a16="http://schemas.microsoft.com/office/drawing/2014/main" id="{16B6614B-B727-4EDD-ABB3-0A74ACDAF3CB}"/>
              </a:ext>
            </a:extLst>
          </p:cNvPr>
          <p:cNvSpPr/>
          <p:nvPr/>
        </p:nvSpPr>
        <p:spPr>
          <a:xfrm>
            <a:off x="7594596" y="2651760"/>
            <a:ext cx="4384044" cy="1554480"/>
          </a:xfrm>
          <a:prstGeom prst="roundRect">
            <a:avLst>
              <a:gd name="adj" fmla="val 5944"/>
            </a:avLst>
          </a:prstGeom>
          <a:solidFill>
            <a:srgbClr val="F9EB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Производительность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Время загрузки страниц и выполнения запросов соответствует установленным требованиям (в среднем менее 2 секунд).</a:t>
            </a:r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Потребление ресурсов (память, CPU, батарея) находится в пределах нормы.</a:t>
            </a:r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>
              <a:buSzPts val="1400"/>
            </a:pPr>
            <a:endParaRPr sz="16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246129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1A58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59686241-5A30-4309-8685-7F7783620CD8}"/>
              </a:ext>
            </a:extLst>
          </p:cNvPr>
          <p:cNvSpPr/>
          <p:nvPr/>
        </p:nvSpPr>
        <p:spPr>
          <a:xfrm>
            <a:off x="1415872" y="146133"/>
            <a:ext cx="9360255" cy="4608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400" b="1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Выводы по результатам тестирования приложения "</a:t>
            </a:r>
            <a:r>
              <a:rPr lang="ru-RU" sz="2400" b="1" dirty="0" err="1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Кинопоиск</a:t>
            </a:r>
            <a:r>
              <a:rPr lang="ru-RU" sz="2400" b="1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endParaRPr lang="ru-RU" sz="20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Google Shape;143;p10">
            <a:extLst>
              <a:ext uri="{FF2B5EF4-FFF2-40B4-BE49-F238E27FC236}">
                <a16:creationId xmlns:a16="http://schemas.microsoft.com/office/drawing/2014/main" id="{DB167361-6B90-4455-AE49-194FA8E82FE8}"/>
              </a:ext>
            </a:extLst>
          </p:cNvPr>
          <p:cNvSpPr/>
          <p:nvPr/>
        </p:nvSpPr>
        <p:spPr>
          <a:xfrm>
            <a:off x="6095999" y="1208770"/>
            <a:ext cx="4304796" cy="1792224"/>
          </a:xfrm>
          <a:prstGeom prst="roundRect">
            <a:avLst>
              <a:gd name="adj" fmla="val 5944"/>
            </a:avLst>
          </a:prstGeom>
          <a:solidFill>
            <a:srgbClr val="F9EB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Кросс-платформенная совместимость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Приложение корректно работает на всех поддерживаемых платформах (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iOS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Android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веб-версия).</a:t>
            </a:r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Протестирована совместимость с основными браузерами (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Chrome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Safari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Firefox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Edge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и их последними версиями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Google Shape;143;p10">
            <a:extLst>
              <a:ext uri="{FF2B5EF4-FFF2-40B4-BE49-F238E27FC236}">
                <a16:creationId xmlns:a16="http://schemas.microsoft.com/office/drawing/2014/main" id="{7E39D6FD-B9E6-45B1-927A-2178DAF0FADD}"/>
              </a:ext>
            </a:extLst>
          </p:cNvPr>
          <p:cNvSpPr/>
          <p:nvPr/>
        </p:nvSpPr>
        <p:spPr>
          <a:xfrm>
            <a:off x="6095999" y="4692160"/>
            <a:ext cx="4518156" cy="1792224"/>
          </a:xfrm>
          <a:prstGeom prst="roundRect">
            <a:avLst>
              <a:gd name="adj" fmla="val 5944"/>
            </a:avLst>
          </a:prstGeom>
          <a:solidFill>
            <a:srgbClr val="F9EB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Обратная связь и ошибки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уведомлений об ошибках работает корректно, пользователь получает понятные сообщения в случае возникновения проблем.</a:t>
            </a:r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Приложение восстанавливается после сбоев без потери данных.</a:t>
            </a:r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Google Shape;143;p10">
            <a:extLst>
              <a:ext uri="{FF2B5EF4-FFF2-40B4-BE49-F238E27FC236}">
                <a16:creationId xmlns:a16="http://schemas.microsoft.com/office/drawing/2014/main" id="{81FDBF50-894D-456D-A2F1-96A79468F198}"/>
              </a:ext>
            </a:extLst>
          </p:cNvPr>
          <p:cNvSpPr/>
          <p:nvPr/>
        </p:nvSpPr>
        <p:spPr>
          <a:xfrm>
            <a:off x="1415872" y="3000994"/>
            <a:ext cx="3798396" cy="1383792"/>
          </a:xfrm>
          <a:prstGeom prst="roundRect">
            <a:avLst>
              <a:gd name="adj" fmla="val 5944"/>
            </a:avLst>
          </a:prstGeom>
          <a:solidFill>
            <a:srgbClr val="F9EB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Доступность (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Accessibility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Контрастность текста и размеры шрифтов соответствуют требованиям для пользователей с ограниченными возможностями.</a:t>
            </a:r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2930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1A58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43;p10">
            <a:extLst>
              <a:ext uri="{FF2B5EF4-FFF2-40B4-BE49-F238E27FC236}">
                <a16:creationId xmlns:a16="http://schemas.microsoft.com/office/drawing/2014/main" id="{04B61B73-11BF-4E63-A921-74FB89532998}"/>
              </a:ext>
            </a:extLst>
          </p:cNvPr>
          <p:cNvSpPr/>
          <p:nvPr/>
        </p:nvSpPr>
        <p:spPr>
          <a:xfrm>
            <a:off x="2794292" y="230362"/>
            <a:ext cx="6603416" cy="2238518"/>
          </a:xfrm>
          <a:prstGeom prst="roundRect">
            <a:avLst>
              <a:gd name="adj" fmla="val 5944"/>
            </a:avLst>
          </a:prstGeom>
          <a:solidFill>
            <a:srgbClr val="F9EB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Итоговый вердикт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Приложение "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Кинопоиск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успешно прошло тестирование. Все ключевые функции работают стабильно, производительность соответствует ожиданиям, интерфейс удобен и интуитивно понятен. </a:t>
            </a:r>
          </a:p>
        </p:txBody>
      </p:sp>
      <p:sp>
        <p:nvSpPr>
          <p:cNvPr id="7" name="Google Shape;143;p10">
            <a:extLst>
              <a:ext uri="{FF2B5EF4-FFF2-40B4-BE49-F238E27FC236}">
                <a16:creationId xmlns:a16="http://schemas.microsoft.com/office/drawing/2014/main" id="{EC3A290D-4DF6-4D02-AE9A-7B6B1FA93FF6}"/>
              </a:ext>
            </a:extLst>
          </p:cNvPr>
          <p:cNvSpPr/>
          <p:nvPr/>
        </p:nvSpPr>
        <p:spPr>
          <a:xfrm>
            <a:off x="2477300" y="4389121"/>
            <a:ext cx="7237400" cy="1967246"/>
          </a:xfrm>
          <a:prstGeom prst="roundRect">
            <a:avLst>
              <a:gd name="adj" fmla="val 5944"/>
            </a:avLst>
          </a:prstGeom>
          <a:solidFill>
            <a:srgbClr val="F9EB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Рекомендованные улучшения: 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Киноклубы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ctr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    Создать возможность организовывать виртуальные киноклубы для обсуждения фильмов.</a:t>
            </a:r>
          </a:p>
          <a:p>
            <a:pPr algn="ctr"/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Совместный просмотр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ctr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    Добавить функцию совместного просмотра фильмов с друзьями в режиме реального времени с возможностью общения.</a:t>
            </a:r>
          </a:p>
        </p:txBody>
      </p:sp>
    </p:spTree>
    <p:extLst>
      <p:ext uri="{BB962C8B-B14F-4D97-AF65-F5344CB8AC3E}">
        <p14:creationId xmlns:p14="http://schemas.microsoft.com/office/powerpoint/2010/main" val="26331033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1A58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43;p10">
            <a:extLst>
              <a:ext uri="{FF2B5EF4-FFF2-40B4-BE49-F238E27FC236}">
                <a16:creationId xmlns:a16="http://schemas.microsoft.com/office/drawing/2014/main" id="{1109161A-AECD-46C9-95F0-0D814C78F3E3}"/>
              </a:ext>
            </a:extLst>
          </p:cNvPr>
          <p:cNvSpPr/>
          <p:nvPr/>
        </p:nvSpPr>
        <p:spPr>
          <a:xfrm>
            <a:off x="1678272" y="2279113"/>
            <a:ext cx="8835456" cy="2299774"/>
          </a:xfrm>
          <a:prstGeom prst="roundRect">
            <a:avLst>
              <a:gd name="adj" fmla="val 5944"/>
            </a:avLst>
          </a:prstGeom>
          <a:solidFill>
            <a:srgbClr val="F9EB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ru-RU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ваше уделённое время на просмотр</a:t>
            </a:r>
            <a:endParaRPr lang="ru-RU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333138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2977</TotalTime>
  <Words>461</Words>
  <Application>Microsoft Office PowerPoint</Application>
  <PresentationFormat>Широкоэкранный</PresentationFormat>
  <Paragraphs>55</Paragraphs>
  <Slides>13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7" baseType="lpstr">
      <vt:lpstr>Arial</vt:lpstr>
      <vt:lpstr>Calibri</vt:lpstr>
      <vt:lpstr>Times New Roman</vt:lpstr>
      <vt:lpstr>Тема Office</vt:lpstr>
      <vt:lpstr>Финальный проект “Кинопоиск”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Титул ьные слайды (по профессиям)</dc:title>
  <dc:creator>Maksavit</dc:creator>
  <cp:lastModifiedBy>Maksavit</cp:lastModifiedBy>
  <cp:revision>16</cp:revision>
  <dcterms:modified xsi:type="dcterms:W3CDTF">2025-06-25T14:45:41Z</dcterms:modified>
</cp:coreProperties>
</file>